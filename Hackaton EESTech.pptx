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3"/>
  </p:notesMasterIdLst>
  <p:handoutMasterIdLst>
    <p:handoutMasterId r:id="rId14"/>
  </p:handoutMasterIdLst>
  <p:sldIdLst>
    <p:sldId id="410" r:id="rId5"/>
    <p:sldId id="389" r:id="rId6"/>
    <p:sldId id="411" r:id="rId7"/>
    <p:sldId id="408" r:id="rId8"/>
    <p:sldId id="407" r:id="rId9"/>
    <p:sldId id="406" r:id="rId10"/>
    <p:sldId id="404" r:id="rId11"/>
    <p:sldId id="398" r:id="rId12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e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6FC038-ED04-4E29-913F-50E6A10ADFF7}" v="324" dt="2025-05-03T18:54:45.344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10" autoAdjust="0"/>
    <p:restoredTop sz="96327" autoAdjust="0"/>
  </p:normalViewPr>
  <p:slideViewPr>
    <p:cSldViewPr snapToGrid="0">
      <p:cViewPr>
        <p:scale>
          <a:sx n="75" d="100"/>
          <a:sy n="75" d="100"/>
        </p:scale>
        <p:origin x="1068" y="7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82" d="100"/>
          <a:sy n="82" d="100"/>
        </p:scale>
        <p:origin x="395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9D8A12-2986-494E-9D71-F71A80F48197}" type="doc">
      <dgm:prSet loTypeId="urn:microsoft.com/office/officeart/2005/8/layout/vProcess5" loCatId="process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ECE8082-7FF6-444C-B9B2-08894A76F5ED}">
      <dgm:prSet/>
      <dgm:spPr/>
      <dgm:t>
        <a:bodyPr/>
        <a:lstStyle/>
        <a:p>
          <a:r>
            <a:rPr lang="en-US" dirty="0" err="1"/>
            <a:t>Modello</a:t>
          </a:r>
          <a:r>
            <a:rPr lang="en-US" baseline="0" dirty="0"/>
            <a:t> per </a:t>
          </a:r>
          <a:r>
            <a:rPr lang="en-US" baseline="0" dirty="0" err="1"/>
            <a:t>l’ottimizzazione</a:t>
          </a:r>
          <a:r>
            <a:rPr lang="en-US" baseline="0" dirty="0"/>
            <a:t> </a:t>
          </a:r>
          <a:r>
            <a:rPr lang="en-US" baseline="0" dirty="0" err="1"/>
            <a:t>della</a:t>
          </a:r>
          <a:r>
            <a:rPr lang="en-US" baseline="0" dirty="0"/>
            <a:t> vita </a:t>
          </a:r>
          <a:r>
            <a:rPr lang="en-US" baseline="0" dirty="0" err="1"/>
            <a:t>della</a:t>
          </a:r>
          <a:r>
            <a:rPr lang="en-US" baseline="0" dirty="0"/>
            <a:t> </a:t>
          </a:r>
          <a:r>
            <a:rPr lang="en-US" baseline="0" dirty="0" err="1"/>
            <a:t>batteria</a:t>
          </a:r>
          <a:r>
            <a:rPr lang="en-US" baseline="0" dirty="0"/>
            <a:t> </a:t>
          </a:r>
          <a:r>
            <a:rPr lang="en-US" baseline="0" dirty="0" err="1"/>
            <a:t>che</a:t>
          </a:r>
          <a:r>
            <a:rPr lang="en-US" baseline="0" dirty="0"/>
            <a:t> </a:t>
          </a:r>
          <a:r>
            <a:rPr lang="en-US" baseline="0" dirty="0" err="1"/>
            <a:t>agisce</a:t>
          </a:r>
          <a:r>
            <a:rPr lang="en-US" baseline="0" dirty="0"/>
            <a:t> </a:t>
          </a:r>
          <a:r>
            <a:rPr lang="en-US" baseline="0" dirty="0" err="1"/>
            <a:t>sulla</a:t>
          </a:r>
          <a:r>
            <a:rPr lang="en-US" baseline="0" dirty="0"/>
            <a:t> Potenza </a:t>
          </a:r>
          <a:r>
            <a:rPr lang="en-US" baseline="0" dirty="0" err="1"/>
            <a:t>erogata</a:t>
          </a:r>
          <a:endParaRPr lang="en-US" dirty="0"/>
        </a:p>
      </dgm:t>
    </dgm:pt>
    <dgm:pt modelId="{61650BD0-0D1E-4FB9-B301-2F86B1EEDFA2}" type="parTrans" cxnId="{32EEC9D3-20F2-4705-862C-F8AE0CE437A1}">
      <dgm:prSet/>
      <dgm:spPr/>
      <dgm:t>
        <a:bodyPr/>
        <a:lstStyle/>
        <a:p>
          <a:endParaRPr lang="en-US"/>
        </a:p>
      </dgm:t>
    </dgm:pt>
    <dgm:pt modelId="{E1A71B4B-C50B-4D44-92C7-9A5FCFA1BD3D}" type="sibTrans" cxnId="{32EEC9D3-20F2-4705-862C-F8AE0CE437A1}">
      <dgm:prSet/>
      <dgm:spPr/>
      <dgm:t>
        <a:bodyPr/>
        <a:lstStyle/>
        <a:p>
          <a:endParaRPr lang="en-US"/>
        </a:p>
      </dgm:t>
    </dgm:pt>
    <dgm:pt modelId="{82E93B3F-85C5-42F3-B7B1-2B9970A9FEF1}">
      <dgm:prSet/>
      <dgm:spPr/>
      <dgm:t>
        <a:bodyPr/>
        <a:lstStyle/>
        <a:p>
          <a:r>
            <a:rPr lang="it-IT" b="0" i="0"/>
            <a:t>Algoritmo di Machine Learning per la previsione dell’SOH ad ogni istante</a:t>
          </a:r>
          <a:endParaRPr lang="en-US"/>
        </a:p>
      </dgm:t>
    </dgm:pt>
    <dgm:pt modelId="{4B3BB88A-A2A2-4BE2-8685-FBCBC1F0C989}" type="parTrans" cxnId="{9776CD96-0478-4A5F-92B6-9451DA8C14C5}">
      <dgm:prSet/>
      <dgm:spPr/>
      <dgm:t>
        <a:bodyPr/>
        <a:lstStyle/>
        <a:p>
          <a:endParaRPr lang="en-US"/>
        </a:p>
      </dgm:t>
    </dgm:pt>
    <dgm:pt modelId="{88BA5258-67BD-4A62-8CDA-822F4C31ED4D}" type="sibTrans" cxnId="{9776CD96-0478-4A5F-92B6-9451DA8C14C5}">
      <dgm:prSet/>
      <dgm:spPr/>
      <dgm:t>
        <a:bodyPr/>
        <a:lstStyle/>
        <a:p>
          <a:endParaRPr lang="en-US"/>
        </a:p>
      </dgm:t>
    </dgm:pt>
    <dgm:pt modelId="{BA75C238-88C5-4C47-A9CC-6EF537A610E3}" type="pres">
      <dgm:prSet presAssocID="{A09D8A12-2986-494E-9D71-F71A80F48197}" presName="outerComposite" presStyleCnt="0">
        <dgm:presLayoutVars>
          <dgm:chMax val="5"/>
          <dgm:dir/>
          <dgm:resizeHandles val="exact"/>
        </dgm:presLayoutVars>
      </dgm:prSet>
      <dgm:spPr/>
    </dgm:pt>
    <dgm:pt modelId="{375E3309-2F76-42EA-9B6A-ECA173916416}" type="pres">
      <dgm:prSet presAssocID="{A09D8A12-2986-494E-9D71-F71A80F48197}" presName="dummyMaxCanvas" presStyleCnt="0">
        <dgm:presLayoutVars/>
      </dgm:prSet>
      <dgm:spPr/>
    </dgm:pt>
    <dgm:pt modelId="{1D5E747D-C5C9-4C6C-95F9-47CF2DA15B36}" type="pres">
      <dgm:prSet presAssocID="{A09D8A12-2986-494E-9D71-F71A80F48197}" presName="TwoNodes_1" presStyleLbl="node1" presStyleIdx="0" presStyleCnt="2">
        <dgm:presLayoutVars>
          <dgm:bulletEnabled val="1"/>
        </dgm:presLayoutVars>
      </dgm:prSet>
      <dgm:spPr/>
    </dgm:pt>
    <dgm:pt modelId="{C0F13E6D-A264-4718-954B-89F7C12063B2}" type="pres">
      <dgm:prSet presAssocID="{A09D8A12-2986-494E-9D71-F71A80F48197}" presName="TwoNodes_2" presStyleLbl="node1" presStyleIdx="1" presStyleCnt="2">
        <dgm:presLayoutVars>
          <dgm:bulletEnabled val="1"/>
        </dgm:presLayoutVars>
      </dgm:prSet>
      <dgm:spPr/>
    </dgm:pt>
    <dgm:pt modelId="{98017A2B-7AB4-4DD1-B408-B545C83116BC}" type="pres">
      <dgm:prSet presAssocID="{A09D8A12-2986-494E-9D71-F71A80F48197}" presName="TwoConn_1-2" presStyleLbl="fgAccFollowNode1" presStyleIdx="0" presStyleCnt="1">
        <dgm:presLayoutVars>
          <dgm:bulletEnabled val="1"/>
        </dgm:presLayoutVars>
      </dgm:prSet>
      <dgm:spPr/>
    </dgm:pt>
    <dgm:pt modelId="{6585A7D3-4D64-4A35-875F-0B0BD9B4DCDD}" type="pres">
      <dgm:prSet presAssocID="{A09D8A12-2986-494E-9D71-F71A80F48197}" presName="TwoNodes_1_text" presStyleLbl="node1" presStyleIdx="1" presStyleCnt="2">
        <dgm:presLayoutVars>
          <dgm:bulletEnabled val="1"/>
        </dgm:presLayoutVars>
      </dgm:prSet>
      <dgm:spPr/>
    </dgm:pt>
    <dgm:pt modelId="{46F43BC5-316A-429F-9CE7-5B3CADF5FB86}" type="pres">
      <dgm:prSet presAssocID="{A09D8A12-2986-494E-9D71-F71A80F48197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FF10E80E-F5DB-4015-91AB-72ADB991C0FD}" type="presOf" srcId="{82E93B3F-85C5-42F3-B7B1-2B9970A9FEF1}" destId="{C0F13E6D-A264-4718-954B-89F7C12063B2}" srcOrd="0" destOrd="0" presId="urn:microsoft.com/office/officeart/2005/8/layout/vProcess5"/>
    <dgm:cxn modelId="{8255FC3B-0550-49EA-8DA9-44AD718535C2}" type="presOf" srcId="{82E93B3F-85C5-42F3-B7B1-2B9970A9FEF1}" destId="{46F43BC5-316A-429F-9CE7-5B3CADF5FB86}" srcOrd="1" destOrd="0" presId="urn:microsoft.com/office/officeart/2005/8/layout/vProcess5"/>
    <dgm:cxn modelId="{926F6066-3AD6-4BB0-ADB4-11B58F3DFECC}" type="presOf" srcId="{A09D8A12-2986-494E-9D71-F71A80F48197}" destId="{BA75C238-88C5-4C47-A9CC-6EF537A610E3}" srcOrd="0" destOrd="0" presId="urn:microsoft.com/office/officeart/2005/8/layout/vProcess5"/>
    <dgm:cxn modelId="{9776CD96-0478-4A5F-92B6-9451DA8C14C5}" srcId="{A09D8A12-2986-494E-9D71-F71A80F48197}" destId="{82E93B3F-85C5-42F3-B7B1-2B9970A9FEF1}" srcOrd="1" destOrd="0" parTransId="{4B3BB88A-A2A2-4BE2-8685-FBCBC1F0C989}" sibTransId="{88BA5258-67BD-4A62-8CDA-822F4C31ED4D}"/>
    <dgm:cxn modelId="{A1640FAD-216A-48FD-8B85-89DEFEA06121}" type="presOf" srcId="{E1A71B4B-C50B-4D44-92C7-9A5FCFA1BD3D}" destId="{98017A2B-7AB4-4DD1-B408-B545C83116BC}" srcOrd="0" destOrd="0" presId="urn:microsoft.com/office/officeart/2005/8/layout/vProcess5"/>
    <dgm:cxn modelId="{D1BFBDC2-196B-4691-8450-498D4A968786}" type="presOf" srcId="{CECE8082-7FF6-444C-B9B2-08894A76F5ED}" destId="{1D5E747D-C5C9-4C6C-95F9-47CF2DA15B36}" srcOrd="0" destOrd="0" presId="urn:microsoft.com/office/officeart/2005/8/layout/vProcess5"/>
    <dgm:cxn modelId="{32EEC9D3-20F2-4705-862C-F8AE0CE437A1}" srcId="{A09D8A12-2986-494E-9D71-F71A80F48197}" destId="{CECE8082-7FF6-444C-B9B2-08894A76F5ED}" srcOrd="0" destOrd="0" parTransId="{61650BD0-0D1E-4FB9-B301-2F86B1EEDFA2}" sibTransId="{E1A71B4B-C50B-4D44-92C7-9A5FCFA1BD3D}"/>
    <dgm:cxn modelId="{CFA87BD7-5F0B-4FF8-98E9-2C18F309DCCD}" type="presOf" srcId="{CECE8082-7FF6-444C-B9B2-08894A76F5ED}" destId="{6585A7D3-4D64-4A35-875F-0B0BD9B4DCDD}" srcOrd="1" destOrd="0" presId="urn:microsoft.com/office/officeart/2005/8/layout/vProcess5"/>
    <dgm:cxn modelId="{9D99BBAE-E582-4CE0-A3BC-93AC657706B3}" type="presParOf" srcId="{BA75C238-88C5-4C47-A9CC-6EF537A610E3}" destId="{375E3309-2F76-42EA-9B6A-ECA173916416}" srcOrd="0" destOrd="0" presId="urn:microsoft.com/office/officeart/2005/8/layout/vProcess5"/>
    <dgm:cxn modelId="{AAAE8271-1D49-4946-BC52-99F5C988FD70}" type="presParOf" srcId="{BA75C238-88C5-4C47-A9CC-6EF537A610E3}" destId="{1D5E747D-C5C9-4C6C-95F9-47CF2DA15B36}" srcOrd="1" destOrd="0" presId="urn:microsoft.com/office/officeart/2005/8/layout/vProcess5"/>
    <dgm:cxn modelId="{90F1FAA0-3688-4B0B-A934-E22C0660C253}" type="presParOf" srcId="{BA75C238-88C5-4C47-A9CC-6EF537A610E3}" destId="{C0F13E6D-A264-4718-954B-89F7C12063B2}" srcOrd="2" destOrd="0" presId="urn:microsoft.com/office/officeart/2005/8/layout/vProcess5"/>
    <dgm:cxn modelId="{1347C628-E720-4D7A-A1D5-DC0500DD6094}" type="presParOf" srcId="{BA75C238-88C5-4C47-A9CC-6EF537A610E3}" destId="{98017A2B-7AB4-4DD1-B408-B545C83116BC}" srcOrd="3" destOrd="0" presId="urn:microsoft.com/office/officeart/2005/8/layout/vProcess5"/>
    <dgm:cxn modelId="{D38CD4C6-EBBC-4A7A-B06C-F24E45A6A789}" type="presParOf" srcId="{BA75C238-88C5-4C47-A9CC-6EF537A610E3}" destId="{6585A7D3-4D64-4A35-875F-0B0BD9B4DCDD}" srcOrd="4" destOrd="0" presId="urn:microsoft.com/office/officeart/2005/8/layout/vProcess5"/>
    <dgm:cxn modelId="{1D8F82B5-0D67-4AC4-A624-6DFB3F96AE2A}" type="presParOf" srcId="{BA75C238-88C5-4C47-A9CC-6EF537A610E3}" destId="{46F43BC5-316A-429F-9CE7-5B3CADF5FB86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5E747D-C5C9-4C6C-95F9-47CF2DA15B36}">
      <dsp:nvSpPr>
        <dsp:cNvPr id="0" name=""/>
        <dsp:cNvSpPr/>
      </dsp:nvSpPr>
      <dsp:spPr>
        <a:xfrm>
          <a:off x="0" y="0"/>
          <a:ext cx="7309900" cy="16688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 err="1"/>
            <a:t>Modello</a:t>
          </a:r>
          <a:r>
            <a:rPr lang="en-US" sz="3300" kern="1200" baseline="0" dirty="0"/>
            <a:t> per </a:t>
          </a:r>
          <a:r>
            <a:rPr lang="en-US" sz="3300" kern="1200" baseline="0" dirty="0" err="1"/>
            <a:t>l’ottimizzazione</a:t>
          </a:r>
          <a:r>
            <a:rPr lang="en-US" sz="3300" kern="1200" baseline="0" dirty="0"/>
            <a:t> </a:t>
          </a:r>
          <a:r>
            <a:rPr lang="en-US" sz="3300" kern="1200" baseline="0" dirty="0" err="1"/>
            <a:t>della</a:t>
          </a:r>
          <a:r>
            <a:rPr lang="en-US" sz="3300" kern="1200" baseline="0" dirty="0"/>
            <a:t> vita </a:t>
          </a:r>
          <a:r>
            <a:rPr lang="en-US" sz="3300" kern="1200" baseline="0" dirty="0" err="1"/>
            <a:t>della</a:t>
          </a:r>
          <a:r>
            <a:rPr lang="en-US" sz="3300" kern="1200" baseline="0" dirty="0"/>
            <a:t> </a:t>
          </a:r>
          <a:r>
            <a:rPr lang="en-US" sz="3300" kern="1200" baseline="0" dirty="0" err="1"/>
            <a:t>batteria</a:t>
          </a:r>
          <a:r>
            <a:rPr lang="en-US" sz="3300" kern="1200" baseline="0" dirty="0"/>
            <a:t> </a:t>
          </a:r>
          <a:r>
            <a:rPr lang="en-US" sz="3300" kern="1200" baseline="0" dirty="0" err="1"/>
            <a:t>che</a:t>
          </a:r>
          <a:r>
            <a:rPr lang="en-US" sz="3300" kern="1200" baseline="0" dirty="0"/>
            <a:t> </a:t>
          </a:r>
          <a:r>
            <a:rPr lang="en-US" sz="3300" kern="1200" baseline="0" dirty="0" err="1"/>
            <a:t>agisce</a:t>
          </a:r>
          <a:r>
            <a:rPr lang="en-US" sz="3300" kern="1200" baseline="0" dirty="0"/>
            <a:t> </a:t>
          </a:r>
          <a:r>
            <a:rPr lang="en-US" sz="3300" kern="1200" baseline="0" dirty="0" err="1"/>
            <a:t>sulla</a:t>
          </a:r>
          <a:r>
            <a:rPr lang="en-US" sz="3300" kern="1200" baseline="0" dirty="0"/>
            <a:t> Potenza </a:t>
          </a:r>
          <a:r>
            <a:rPr lang="en-US" sz="3300" kern="1200" baseline="0" dirty="0" err="1"/>
            <a:t>erogata</a:t>
          </a:r>
          <a:endParaRPr lang="en-US" sz="3300" kern="1200" dirty="0"/>
        </a:p>
      </dsp:txBody>
      <dsp:txXfrm>
        <a:off x="48878" y="48878"/>
        <a:ext cx="5585032" cy="1571076"/>
      </dsp:txXfrm>
    </dsp:sp>
    <dsp:sp modelId="{C0F13E6D-A264-4718-954B-89F7C12063B2}">
      <dsp:nvSpPr>
        <dsp:cNvPr id="0" name=""/>
        <dsp:cNvSpPr/>
      </dsp:nvSpPr>
      <dsp:spPr>
        <a:xfrm>
          <a:off x="1289982" y="2039684"/>
          <a:ext cx="7309900" cy="166883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3300" b="0" i="0" kern="1200"/>
            <a:t>Algoritmo di Machine Learning per la previsione dell’SOH ad ogni istante</a:t>
          </a:r>
          <a:endParaRPr lang="en-US" sz="3300" kern="1200"/>
        </a:p>
      </dsp:txBody>
      <dsp:txXfrm>
        <a:off x="1338860" y="2088562"/>
        <a:ext cx="4837420" cy="1571076"/>
      </dsp:txXfrm>
    </dsp:sp>
    <dsp:sp modelId="{98017A2B-7AB4-4DD1-B408-B545C83116BC}">
      <dsp:nvSpPr>
        <dsp:cNvPr id="0" name=""/>
        <dsp:cNvSpPr/>
      </dsp:nvSpPr>
      <dsp:spPr>
        <a:xfrm>
          <a:off x="6225159" y="1311887"/>
          <a:ext cx="1084741" cy="10847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469226" y="1311887"/>
        <a:ext cx="596607" cy="816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pPr rtl="0"/>
            <a:fld id="{F43FFF67-0A66-4BA5-8D01-D7436A93C5DC}" type="datetime1">
              <a:rPr lang="it-IT" smtClean="0"/>
              <a:t>03/05/2025</a:t>
            </a:fld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E2C230DF-5933-439D-898F-38E9AC9BA688}" type="slidenum">
              <a:rPr lang="it-IT" smtClean="0"/>
              <a:t>‹N›</a:t>
            </a:fld>
            <a:endParaRPr lang="it-IT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8" name="Segnaposto intestazione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3T13:34:36.697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3T13:38:49.305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24 1,'11579'0,"-23038"0,11485 0,-25 0,-16 0,-138 0,151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17:51:43.40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99 32 24575,'-98'-32'0,"103"34"2,-1 1-1,1-1 0,-1 1 1,1 0-1,-1 0 0,0 0 1,0 1-1,-1-1 0,1 1 1,-1 0-1,1 0 1,-1 0-1,0 1 0,-1-1 1,1 1-1,-1-1 0,0 1 1,0 0-1,2 8 0,0 8-28,0 0 0,-2 0 0,0 36 0,3 20-1257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17:51:45.81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19 0 24575,'-9'113'0,"4"-86"0,3 1 0,0-1 0,3 45 0,-1-72 0,0 0 0,0 1 0,0-1 0,0 0 0,0 1 0,0-1 0,0 0 0,0 0 0,0 1 0,0-1 0,0 0 0,1 1 0,-1-1 0,0 0 0,0 0 0,0 1 0,0-1 0,1 0 0,-1 0 0,0 1 0,0-1 0,1 0 0,-1 0 0,0 0 0,0 1 0,1-1 0,-1 0 0,0 0 0,0 0 0,1 0 0,-1 0 0,0 0 0,1 0 0,-1 1 0,0-1 0,1 0 0,-1 0 0,0 0 0,1 0 0,16-8 0,17-22 0,-29 25 0,-1 1 0,1 0 0,0 0 0,1 1 0,-1-1 0,1 1 0,-1 0 0,1 0 0,8-2 0,-13 5 0,0 0 0,0-1 0,1 1 0,-1 0 0,0 0 0,1 0 0,-1 0 0,0 0 0,0 0 0,1 0 0,-1 0 0,0 1 0,0-1 0,1 1 0,-1-1 0,0 1 0,0-1 0,0 1 0,2 0 0,-2 1 0,0-1 0,1 1 0,-1-1 0,0 1 0,0 0 0,0-1 0,0 1 0,-1 0 0,1 0 0,0 0 0,-1-1 0,1 1 0,-1 0 0,0 0 0,1 0 0,-1 0 0,0 2 0,-1 1 0,0-1 0,0 1 0,0 0 0,0-1 0,-1 1 0,0-1 0,0 0 0,0 1 0,0-1 0,-1 0 0,1 0 0,-1-1 0,0 1 0,0-1 0,-7 6 0,-4 5 0,-1-1 0,-22 15 0,36-27-91,-15 10 314,11-5-484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17:52:09.5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1 342 24575,'7'-35'0,"4"-63"0,-3 22 0,-4 42 0,-2 14 0,0 1 0,9-29 0,-7 36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17:52:10.49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 1 24575,'-7'27'0,"1"-8"0,2-3 0,1-2 0,1-3 0,1-3 0,0-4 0,1-5 0,2-2 0,0-3 0,2-2 0,-2 0 0,2-1 0,0-2 0,0-1 0,-2 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03T17:52:14.485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0 582,'0'-581,"0"1442,0-1268,0 405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3T17:52:15.8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108 236 24575,'-2'32'0,"-1"0"0,-12 51 0,1-8 0,14-73 0,-1 1 0,1 0 0,-1-1 0,0 1 0,0 0 0,0-1 0,0 1 0,0-1 0,0 1 0,-1-1 0,1 0 0,-1 1 0,-2 2 0,3-4 0,1-1 0,0 0 0,0 0 0,-1 0 0,1 0 0,0 0 0,-1 1 0,1-1 0,0 0 0,-1 0 0,1 0 0,0 0 0,-1 0 0,1 0 0,0 0 0,0 0 0,-1 0 0,1 0 0,0 0 0,-1 0 0,1 0 0,0 0 0,-1-1 0,1 1 0,0 0 0,-1 0 0,1 0 0,0 0 0,0 0 0,-1-1 0,1 1 0,0 0 0,0 0 0,-1-1 0,1 1 0,0 0 0,-9-25 0,-2-39 0,-12-85 0,21 129 0,1 0 0,1 1 0,1-1 0,1 1 0,6-31 0,-6 46 0,0-1 0,0 1 0,0-1 0,1 1 0,-1 0 0,7-7 0,8-16 0,5-18-1365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it-IT" sz="1200"/>
            </a:lvl1pPr>
          </a:lstStyle>
          <a:p>
            <a:fld id="{CCC7B77D-D2C2-452D-80DB-AB1E949B0C69}" type="datetime1">
              <a:rPr lang="it-IT" smtClean="0"/>
              <a:pPr/>
              <a:t>03/05/2025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it-IT" sz="1200"/>
            </a:lvl1pPr>
          </a:lstStyle>
          <a:p>
            <a:pPr rtl="0"/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it-IT" sz="1200"/>
            </a:lvl1pPr>
          </a:lstStyle>
          <a:p>
            <a:pPr rtl="0"/>
            <a:fld id="{A89C7E07-3C67-C64C-8DA0-0404F6303970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1EBD-BD39-586D-1773-FDC63614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293BF338-DA5F-92AC-51B0-BD9EED914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05278F7-4860-973A-26E0-B54AAEB011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29FCE4-7942-54B9-B963-7AF798C64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6133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A89C7E07-3C67-C64C-8DA0-0404F6303970}" type="slidenum">
              <a:rPr lang="it-IT" smtClean="0"/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8" name="Figura a mano libera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9" name="Figura a mano libera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2" name="Tito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 spc="50" baseline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it-IT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43" name="Segnaposto numero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42" name="Segnaposto dat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sezio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it-IT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8" name="Tito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it-IT"/>
            </a:defPPr>
          </a:lstStyle>
          <a:p>
            <a:pPr algn="ctr" rtl="0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/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epilog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igura a mano libera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32" name="Tito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ue contenuti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4" name="Figura a mano libera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9436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4" name="Figura a mano libera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8" name="Figura a mano libera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9" name="Figura a mano libera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it-IT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it-IT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it-IT" sz="2000"/>
            </a:lvl3pPr>
            <a:lvl4pPr marL="1371600" indent="0">
              <a:spcBef>
                <a:spcPts val="1800"/>
              </a:spcBef>
              <a:buFont typeface="+mj-lt"/>
              <a:buNone/>
              <a:defRPr lang="it-IT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endParaRPr lang="it-IT" dirty="0"/>
          </a:p>
        </p:txBody>
      </p:sp>
      <p:sp>
        <p:nvSpPr>
          <p:cNvPr id="2" name="Segnaposto contenut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283464" indent="-283464">
              <a:spcBef>
                <a:spcPts val="1800"/>
              </a:spcBef>
              <a:defRPr lang="it-IT" sz="2000"/>
            </a:lvl2pPr>
            <a:lvl3pPr marL="548640" indent="-283464">
              <a:spcBef>
                <a:spcPts val="1800"/>
              </a:spcBef>
              <a:defRPr lang="it-IT" sz="2000"/>
            </a:lvl3pPr>
            <a:lvl4pPr marL="822960" indent="-283464">
              <a:spcBef>
                <a:spcPts val="1800"/>
              </a:spcBef>
              <a:defRPr lang="it-IT" sz="2000"/>
            </a:lvl4pPr>
            <a:lvl5pPr marL="1005840"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titolo e immag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3" name="Segnaposto contenut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indent="-283464">
              <a:spcBef>
                <a:spcPts val="1800"/>
              </a:spcBef>
              <a:defRPr lang="it-IT" sz="2000"/>
            </a:lvl2pPr>
            <a:lvl3pPr indent="-283464">
              <a:spcBef>
                <a:spcPts val="1800"/>
              </a:spcBef>
              <a:defRPr lang="it-IT" sz="2000"/>
            </a:lvl3pPr>
            <a:lvl4pPr indent="-283464">
              <a:spcBef>
                <a:spcPts val="1800"/>
              </a:spcBef>
              <a:defRPr lang="it-IT" sz="2000"/>
            </a:lvl4pPr>
            <a:lvl5pPr indent="-283464"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Segnaposto immagine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it-IT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/>
              <a:t>Fare clic sull'icona per inserire un'immagine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to del titolo e tabel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igura a mano libera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5" name="Figura a mano libera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7" name="Figura a mano libera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it-IT" sz="2000"/>
            </a:lvl1pPr>
            <a:lvl2pPr marL="457200" indent="0">
              <a:spcBef>
                <a:spcPts val="1800"/>
              </a:spcBef>
              <a:buNone/>
              <a:defRPr lang="it-IT" sz="2000"/>
            </a:lvl2pPr>
            <a:lvl3pPr marL="914400" indent="0">
              <a:spcBef>
                <a:spcPts val="1800"/>
              </a:spcBef>
              <a:buNone/>
              <a:defRPr lang="it-IT" sz="2000"/>
            </a:lvl3pPr>
            <a:lvl4pPr marL="1371600" indent="0">
              <a:spcBef>
                <a:spcPts val="1800"/>
              </a:spcBef>
              <a:buNone/>
              <a:defRPr lang="it-IT" sz="2000"/>
            </a:lvl4pPr>
            <a:lvl5pPr marL="1828800" indent="0">
              <a:spcBef>
                <a:spcPts val="1800"/>
              </a:spcBef>
              <a:buNone/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due contenuti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igura a mano libera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3" name="Figura a mano libera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4" name="Figura a mano libera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it-IT" sz="2000"/>
            </a:lvl1pPr>
            <a:lvl2pPr>
              <a:spcBef>
                <a:spcPts val="6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7" name="Segnaposto contenut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it-IT" sz="2000"/>
            </a:lvl1pPr>
            <a:lvl2pPr>
              <a:spcBef>
                <a:spcPts val="1800"/>
              </a:spcBef>
              <a:defRPr lang="it-IT" sz="2000"/>
            </a:lvl2pPr>
            <a:lvl3pPr>
              <a:spcBef>
                <a:spcPts val="1800"/>
              </a:spcBef>
              <a:defRPr lang="it-IT" sz="2000"/>
            </a:lvl3pPr>
            <a:lvl4pPr>
              <a:spcBef>
                <a:spcPts val="1800"/>
              </a:spcBef>
              <a:defRPr lang="it-IT" sz="2000"/>
            </a:lvl4pPr>
            <a:lvl5pPr>
              <a:spcBef>
                <a:spcPts val="1800"/>
              </a:spcBef>
              <a:defRPr lang="it-IT" sz="2000"/>
            </a:lvl5pPr>
          </a:lstStyle>
          <a:p>
            <a:pPr lvl="0" rtl="0"/>
            <a:r>
              <a:rPr lang="it-IT"/>
              <a:t>Fai clic per aggiungere contenuto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o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it-IT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sp>
        <p:nvSpPr>
          <p:cNvPr id="9" name="Segnaposto tabel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it-IT"/>
            </a:lvl1pPr>
          </a:lstStyle>
          <a:p>
            <a:pPr rtl="0"/>
            <a:r>
              <a:rPr lang="it-IT"/>
              <a:t>Fare clic sull'icona per inserire una tabella</a:t>
            </a:r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>
              <a:latin typeface="+mn-lt"/>
            </a:endParaRPr>
          </a:p>
        </p:txBody>
      </p:sp>
      <p:sp>
        <p:nvSpPr>
          <p:cNvPr id="8" name="Segnaposto dat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endParaRPr lang="it-IT" dirty="0">
              <a:latin typeface="+mn-lt"/>
            </a:endParaRP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it-IT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it-IT"/>
              <a:t>Fare clic per inserire il titolo 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igura a mano libera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1" name="Figura a mano libera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  <p:sp>
          <p:nvSpPr>
            <p:cNvPr id="12" name="Figura a mano libera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it-IT"/>
              </a:defPPr>
            </a:lstStyle>
            <a:p>
              <a:pPr rtl="0"/>
              <a:endParaRPr lang="it-IT" dirty="0"/>
            </a:p>
          </p:txBody>
        </p:sp>
      </p:grpSp>
      <p:sp>
        <p:nvSpPr>
          <p:cNvPr id="18" name="Segnaposto tes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it-IT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it-IT" sz="4000"/>
            </a:lvl2pPr>
            <a:lvl3pPr>
              <a:defRPr lang="it-IT" sz="4000"/>
            </a:lvl3pPr>
            <a:lvl4pPr>
              <a:defRPr lang="it-IT" sz="4000"/>
            </a:lvl4pPr>
            <a:lvl5pPr>
              <a:defRPr lang="it-IT" sz="4000"/>
            </a:lvl5pPr>
          </a:lstStyle>
          <a:p>
            <a:pPr lvl="0" rtl="0"/>
            <a:r>
              <a:rPr lang="it-IT"/>
              <a:t>Fare clic per inserire il testo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it-IT"/>
            </a:defPPr>
          </a:lstStyle>
          <a:p>
            <a:pPr lvl="0" rtl="0"/>
            <a:r>
              <a:rPr lang="it-IT"/>
              <a:t>Fare clic per modificare lo stile del titolo</a:t>
            </a:r>
          </a:p>
          <a:p>
            <a:pPr lvl="1" rtl="0"/>
            <a:r>
              <a:rPr lang="it-IT"/>
              <a:t>Secondo livello</a:t>
            </a:r>
          </a:p>
          <a:p>
            <a:pPr lvl="2" rtl="0"/>
            <a:r>
              <a:rPr lang="it-IT"/>
              <a:t>Terzo livello</a:t>
            </a:r>
          </a:p>
          <a:p>
            <a:pPr lvl="3" rtl="0"/>
            <a:r>
              <a:rPr lang="it-IT"/>
              <a:t>Quarto livello</a:t>
            </a:r>
          </a:p>
          <a:p>
            <a:pPr lvl="4" rtl="0"/>
            <a:r>
              <a:rPr lang="it-IT"/>
              <a:t>Quinto livello</a:t>
            </a:r>
          </a:p>
        </p:txBody>
      </p:sp>
      <p:sp>
        <p:nvSpPr>
          <p:cNvPr id="12" name="Segnaposto tito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/>
              <a:t>Fare clic per modificare lo stile del titolo</a:t>
            </a:r>
          </a:p>
        </p:txBody>
      </p:sp>
      <p:sp>
        <p:nvSpPr>
          <p:cNvPr id="30" name="Segnaposto dat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it-IT" dirty="0">
              <a:latin typeface="+mn-lt"/>
            </a:endParaRPr>
          </a:p>
        </p:txBody>
      </p:sp>
      <p:sp>
        <p:nvSpPr>
          <p:cNvPr id="32" name="Segnaposto numero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it-IT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it-IT" smtClean="0"/>
              <a:pPr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it-IT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it-IT">
          <a:solidFill>
            <a:schemeClr val="tx2"/>
          </a:solidFill>
        </a:defRPr>
      </a:lvl2pPr>
      <a:lvl3pPr eaLnBrk="1" hangingPunct="1">
        <a:defRPr lang="it-IT">
          <a:solidFill>
            <a:schemeClr val="tx2"/>
          </a:solidFill>
        </a:defRPr>
      </a:lvl3pPr>
      <a:lvl4pPr eaLnBrk="1" hangingPunct="1">
        <a:defRPr lang="it-IT">
          <a:solidFill>
            <a:schemeClr val="tx2"/>
          </a:solidFill>
        </a:defRPr>
      </a:lvl4pPr>
      <a:lvl5pPr eaLnBrk="1" hangingPunct="1">
        <a:defRPr lang="it-IT">
          <a:solidFill>
            <a:schemeClr val="tx2"/>
          </a:solidFill>
        </a:defRPr>
      </a:lvl5pPr>
      <a:lvl6pPr eaLnBrk="1" hangingPunct="1">
        <a:defRPr lang="it-IT">
          <a:solidFill>
            <a:schemeClr val="tx2"/>
          </a:solidFill>
        </a:defRPr>
      </a:lvl6pPr>
      <a:lvl7pPr eaLnBrk="1" hangingPunct="1">
        <a:defRPr lang="it-IT">
          <a:solidFill>
            <a:schemeClr val="tx2"/>
          </a:solidFill>
        </a:defRPr>
      </a:lvl7pPr>
      <a:lvl8pPr eaLnBrk="1" hangingPunct="1">
        <a:defRPr lang="it-IT">
          <a:solidFill>
            <a:schemeClr val="tx2"/>
          </a:solidFill>
        </a:defRPr>
      </a:lvl8pPr>
      <a:lvl9pPr eaLnBrk="1" hangingPunct="1">
        <a:defRPr lang="it-IT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it-IT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it-IT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customXml" Target="../ink/ink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5.png"/><Relationship Id="rId18" Type="http://schemas.openxmlformats.org/officeDocument/2006/relationships/image" Target="../media/image18.png"/><Relationship Id="rId3" Type="http://schemas.openxmlformats.org/officeDocument/2006/relationships/image" Target="../media/image9.jpg"/><Relationship Id="rId7" Type="http://schemas.openxmlformats.org/officeDocument/2006/relationships/image" Target="../media/image12.png"/><Relationship Id="rId12" Type="http://schemas.openxmlformats.org/officeDocument/2006/relationships/customXml" Target="../ink/ink6.xml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8.xml"/><Relationship Id="rId6" Type="http://schemas.openxmlformats.org/officeDocument/2006/relationships/customXml" Target="../ink/ink3.xml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10" Type="http://schemas.openxmlformats.org/officeDocument/2006/relationships/customXml" Target="../ink/ink5.xml"/><Relationship Id="rId19" Type="http://schemas.openxmlformats.org/officeDocument/2006/relationships/image" Target="../media/image19.png"/><Relationship Id="rId4" Type="http://schemas.openxmlformats.org/officeDocument/2006/relationships/image" Target="../media/image10.jpg"/><Relationship Id="rId9" Type="http://schemas.openxmlformats.org/officeDocument/2006/relationships/image" Target="../media/image13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E-Bike BMS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519994B1-8D6F-B77B-3E4C-B3E8CA6424F8}"/>
              </a:ext>
            </a:extLst>
          </p:cNvPr>
          <p:cNvSpPr txBox="1"/>
          <p:nvPr/>
        </p:nvSpPr>
        <p:spPr>
          <a:xfrm>
            <a:off x="10156723" y="6322142"/>
            <a:ext cx="1895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i="0" dirty="0" err="1">
                <a:solidFill>
                  <a:srgbClr val="1F2328"/>
                </a:solidFill>
                <a:effectLst/>
                <a:latin typeface="-apple-system"/>
              </a:rPr>
              <a:t>Hackaton</a:t>
            </a:r>
            <a:r>
              <a:rPr lang="it-IT" b="1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it-IT" b="1" i="0" dirty="0" err="1">
                <a:solidFill>
                  <a:srgbClr val="1F2328"/>
                </a:solidFill>
                <a:effectLst/>
                <a:latin typeface="-apple-system"/>
              </a:rPr>
              <a:t>EESTech</a:t>
            </a:r>
            <a:endParaRPr lang="it-IT" b="1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6386ED5-FFF2-0CEA-4964-8CBAE4790C7D}"/>
              </a:ext>
            </a:extLst>
          </p:cNvPr>
          <p:cNvSpPr txBox="1"/>
          <p:nvPr/>
        </p:nvSpPr>
        <p:spPr>
          <a:xfrm>
            <a:off x="6273208" y="4237703"/>
            <a:ext cx="563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Di: </a:t>
            </a:r>
            <a:r>
              <a:rPr lang="it-IT" b="0" i="0" dirty="0">
                <a:solidFill>
                  <a:srgbClr val="1F2328"/>
                </a:solidFill>
                <a:effectLst/>
                <a:latin typeface="-apple-system"/>
              </a:rPr>
              <a:t>Nicola Battiston, Christian Faccio, Manuel Magnabosco</a:t>
            </a:r>
            <a:endParaRPr lang="it-IT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Input penna 15">
                <a:extLst>
                  <a:ext uri="{FF2B5EF4-FFF2-40B4-BE49-F238E27FC236}">
                    <a16:creationId xmlns:a16="http://schemas.microsoft.com/office/drawing/2014/main" id="{C3178B5A-0C75-7645-8017-67F181E1D4ED}"/>
                  </a:ext>
                </a:extLst>
              </p14:cNvPr>
              <p14:cNvContentPartPr/>
              <p14:nvPr/>
            </p14:nvContentPartPr>
            <p14:xfrm>
              <a:off x="10667760" y="5745720"/>
              <a:ext cx="360" cy="360"/>
            </p14:xfrm>
          </p:contentPart>
        </mc:Choice>
        <mc:Fallback xmlns="">
          <p:pic>
            <p:nvPicPr>
              <p:cNvPr id="16" name="Input penna 15">
                <a:extLst>
                  <a:ext uri="{FF2B5EF4-FFF2-40B4-BE49-F238E27FC236}">
                    <a16:creationId xmlns:a16="http://schemas.microsoft.com/office/drawing/2014/main" id="{C3178B5A-0C75-7645-8017-67F181E1D4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61280" y="57392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7" name="Input penna 16">
                <a:extLst>
                  <a:ext uri="{FF2B5EF4-FFF2-40B4-BE49-F238E27FC236}">
                    <a16:creationId xmlns:a16="http://schemas.microsoft.com/office/drawing/2014/main" id="{1E85C59E-D0F9-4BF8-9B24-85108621D8F6}"/>
                  </a:ext>
                </a:extLst>
              </p14:cNvPr>
              <p14:cNvContentPartPr/>
              <p14:nvPr/>
            </p14:nvContentPartPr>
            <p14:xfrm>
              <a:off x="6020130" y="6792110"/>
              <a:ext cx="4177080" cy="360"/>
            </p14:xfrm>
          </p:contentPart>
        </mc:Choice>
        <mc:Fallback>
          <p:pic>
            <p:nvPicPr>
              <p:cNvPr id="17" name="Input penna 16">
                <a:extLst>
                  <a:ext uri="{FF2B5EF4-FFF2-40B4-BE49-F238E27FC236}">
                    <a16:creationId xmlns:a16="http://schemas.microsoft.com/office/drawing/2014/main" id="{1E85C59E-D0F9-4BF8-9B24-85108621D8F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14010" y="6785990"/>
                <a:ext cx="418932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Immagine 7" descr="Immagine che contiene nero, oscurità&#10;&#10;Il contenuto generato dall'IA potrebbe non essere corretto.">
            <a:extLst>
              <a:ext uri="{FF2B5EF4-FFF2-40B4-BE49-F238E27FC236}">
                <a16:creationId xmlns:a16="http://schemas.microsoft.com/office/drawing/2014/main" id="{952E9E1B-24D3-11B0-0437-8A9CA14327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2002" y="4764773"/>
            <a:ext cx="2730951" cy="203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Problemi identificati</a:t>
            </a:r>
          </a:p>
        </p:txBody>
      </p:sp>
      <p:pic>
        <p:nvPicPr>
          <p:cNvPr id="15" name="Immagine 14" descr="Immagine che contiene albero, neve, aria aperta, dipinto&#10;&#10;Il contenuto generato dall'IA potrebbe non essere corretto.">
            <a:extLst>
              <a:ext uri="{FF2B5EF4-FFF2-40B4-BE49-F238E27FC236}">
                <a16:creationId xmlns:a16="http://schemas.microsoft.com/office/drawing/2014/main" id="{A0405455-9B4C-151F-D837-85459340D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6" r="26286" b="1"/>
          <a:stretch/>
        </p:blipFill>
        <p:spPr>
          <a:xfrm>
            <a:off x="0" y="183274"/>
            <a:ext cx="5791200" cy="6491452"/>
          </a:xfrm>
          <a:prstGeom prst="rect">
            <a:avLst/>
          </a:prstGeo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4F4BF55-CA6F-8330-5B3C-9DA8C9D1C0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99835" y="4568602"/>
            <a:ext cx="5486400" cy="164592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Gli </a:t>
            </a:r>
            <a:r>
              <a:rPr lang="en-US" err="1"/>
              <a:t>utenti</a:t>
            </a:r>
            <a:r>
              <a:rPr lang="en-US"/>
              <a:t> </a:t>
            </a:r>
            <a:r>
              <a:rPr lang="en-US" err="1"/>
              <a:t>usano</a:t>
            </a:r>
            <a:r>
              <a:rPr lang="en-US"/>
              <a:t> </a:t>
            </a:r>
            <a:r>
              <a:rPr lang="en-US" err="1"/>
              <a:t>più</a:t>
            </a:r>
            <a:r>
              <a:rPr lang="en-US"/>
              <a:t> </a:t>
            </a:r>
            <a:r>
              <a:rPr lang="en-US" err="1"/>
              <a:t>potenza</a:t>
            </a:r>
            <a:r>
              <a:rPr lang="en-US"/>
              <a:t> del </a:t>
            </a:r>
            <a:r>
              <a:rPr lang="en-US" err="1"/>
              <a:t>necessario</a:t>
            </a:r>
            <a:r>
              <a:rPr lang="en-US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/>
              <a:t>I </a:t>
            </a:r>
            <a:r>
              <a:rPr lang="en-US" err="1"/>
              <a:t>cambiamenti</a:t>
            </a:r>
            <a:r>
              <a:rPr lang="en-US"/>
              <a:t> </a:t>
            </a:r>
            <a:r>
              <a:rPr lang="en-US" err="1"/>
              <a:t>bruschi</a:t>
            </a:r>
            <a:r>
              <a:rPr lang="en-US"/>
              <a:t> di </a:t>
            </a:r>
            <a:r>
              <a:rPr lang="en-US" err="1"/>
              <a:t>potenza</a:t>
            </a:r>
            <a:r>
              <a:rPr lang="en-US"/>
              <a:t> </a:t>
            </a:r>
            <a:r>
              <a:rPr lang="en-US" err="1"/>
              <a:t>riducono</a:t>
            </a:r>
            <a:r>
              <a:rPr lang="en-US"/>
              <a:t> il </a:t>
            </a:r>
            <a:r>
              <a:rPr lang="en-US" err="1"/>
              <a:t>ciclo</a:t>
            </a:r>
            <a:r>
              <a:rPr lang="en-US"/>
              <a:t> di vita </a:t>
            </a:r>
            <a:r>
              <a:rPr lang="en-US" err="1"/>
              <a:t>della</a:t>
            </a:r>
            <a:r>
              <a:rPr lang="en-US"/>
              <a:t> </a:t>
            </a:r>
            <a:r>
              <a:rPr lang="en-US" err="1"/>
              <a:t>batteria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E9114-D142-6F3E-50A3-C9D86167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555858-933C-C0B3-82A8-778BA004C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Obbiettivi 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7CCBA4C-7278-C21C-D083-3DBA1773E31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7472" indent="-347472" algn="l" rtl="0" eaLnBrk="1" latinLnBrk="0" hangingPunct="1">
              <a:lnSpc>
                <a:spcPct val="90000"/>
              </a:lnSpc>
              <a:spcBef>
                <a:spcPts val="1000"/>
              </a:spcBef>
              <a:buClrTx/>
              <a:buSzPts val="2000"/>
              <a:buFont typeface="Arial" panose="020B0604020202020204" pitchFamily="34" charset="0"/>
              <a:buChar char="•"/>
            </a:pPr>
            <a:r>
              <a:rPr lang="en-US" sz="1800" b="1" i="0" kern="1200" dirty="0" err="1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Preservare</a:t>
            </a:r>
            <a:r>
              <a:rPr lang="en-US" sz="1800" b="1" i="0" kern="1200" dirty="0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 la vita </a:t>
            </a:r>
            <a:r>
              <a:rPr lang="en-US" sz="1800" b="1" i="0" kern="1200" dirty="0" err="1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della</a:t>
            </a:r>
            <a:r>
              <a:rPr lang="en-US" sz="1800" b="1" i="0" kern="1200" dirty="0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 </a:t>
            </a:r>
            <a:r>
              <a:rPr lang="en-US" sz="1800" b="1" i="0" kern="1200" dirty="0" err="1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batteria</a:t>
            </a:r>
            <a:endParaRPr lang="it-IT" sz="1800" dirty="0">
              <a:effectLst/>
            </a:endParaRPr>
          </a:p>
          <a:p>
            <a:pPr marL="347472" indent="-347472" algn="l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800" b="1" i="0" kern="1200" dirty="0" err="1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Gestione</a:t>
            </a:r>
            <a:r>
              <a:rPr lang="en-US" sz="1800" b="1" i="0" kern="1200" dirty="0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 </a:t>
            </a:r>
            <a:r>
              <a:rPr lang="en-US" sz="1800" b="1" i="0" kern="1200" dirty="0" err="1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Intelligente</a:t>
            </a:r>
            <a:r>
              <a:rPr lang="en-US" sz="1800" b="1" i="0" kern="1200" dirty="0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 </a:t>
            </a:r>
            <a:r>
              <a:rPr lang="en-US" sz="1800" b="1" i="0" kern="1200" dirty="0" err="1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della</a:t>
            </a:r>
            <a:r>
              <a:rPr lang="en-US" sz="1800" b="1" i="0" kern="1200" dirty="0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 Potenza </a:t>
            </a:r>
            <a:r>
              <a:rPr lang="en-US" sz="1800" b="1" i="0" kern="1200" dirty="0" err="1">
                <a:solidFill>
                  <a:srgbClr val="5D7D40"/>
                </a:solidFill>
                <a:effectLst/>
                <a:latin typeface="Franklin Gothic Book" panose="020B0503020102020204" pitchFamily="34" charset="0"/>
                <a:ea typeface="+mn-ea"/>
                <a:cs typeface="+mn-cs"/>
              </a:rPr>
              <a:t>erogata</a:t>
            </a:r>
            <a:endParaRPr lang="it-IT" dirty="0">
              <a:effectLst/>
            </a:endParaRPr>
          </a:p>
          <a:p>
            <a:endParaRPr lang="it-IT" dirty="0"/>
          </a:p>
        </p:txBody>
      </p:sp>
      <p:pic>
        <p:nvPicPr>
          <p:cNvPr id="12" name="Immagine 11" descr="Immagine che contiene testo, schermata, diagramma, lettera&#10;&#10;Il contenuto generato dall'IA potrebbe non essere corretto.">
            <a:extLst>
              <a:ext uri="{FF2B5EF4-FFF2-40B4-BE49-F238E27FC236}">
                <a16:creationId xmlns:a16="http://schemas.microsoft.com/office/drawing/2014/main" id="{B01108C3-9D39-396E-E6DA-3B4393E6E8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960" y="3530795"/>
            <a:ext cx="6553200" cy="2743200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132E71FC-DA19-D385-7C61-AE6CD17EA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866" y="4475260"/>
            <a:ext cx="2753437" cy="150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543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Soluzione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94360" y="3279579"/>
            <a:ext cx="5044440" cy="2994415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sz="1800" b="1" dirty="0">
                <a:solidFill>
                  <a:srgbClr val="5D7D40"/>
                </a:solidFill>
                <a:latin typeface="Franklin Gothic Book" panose="020B0503020102020204" pitchFamily="34" charset="0"/>
              </a:rPr>
              <a:t>Tramite un’interfaccia l’utente inserisce i dati di input e il percorso.</a:t>
            </a:r>
          </a:p>
          <a:p>
            <a:pPr rtl="0"/>
            <a:r>
              <a:rPr lang="it-IT" sz="1800" b="1" dirty="0">
                <a:solidFill>
                  <a:srgbClr val="5D7D40"/>
                </a:solidFill>
                <a:latin typeface="Franklin Gothic Book" panose="020B0503020102020204" pitchFamily="34" charset="0"/>
              </a:rPr>
              <a:t> L’algoritmo calcolerà successivamente la potenza ottima da erogare per ogni istante del viaggio. </a:t>
            </a:r>
          </a:p>
        </p:txBody>
      </p:sp>
      <p:pic>
        <p:nvPicPr>
          <p:cNvPr id="8" name="Immagine 7" descr="Immagine che contiene cielo, camminata, deserto, sabbia">
            <a:extLst>
              <a:ext uri="{FF2B5EF4-FFF2-40B4-BE49-F238E27FC236}">
                <a16:creationId xmlns:a16="http://schemas.microsoft.com/office/drawing/2014/main" id="{1AFD6812-21D9-E726-2316-6B31102A0E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071" y="0"/>
            <a:ext cx="5212082" cy="685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BD29B5-1B58-809F-FEA7-B82105E9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 rtlCol="0" anchor="b">
            <a:normAutofit/>
          </a:bodyPr>
          <a:lstStyle>
            <a:defPPr>
              <a:defRPr lang="it-IT"/>
            </a:defPPr>
          </a:lstStyle>
          <a:p>
            <a:pPr rtl="0"/>
            <a:r>
              <a:rPr lang="it-IT" dirty="0"/>
              <a:t>Implementazione</a:t>
            </a:r>
          </a:p>
        </p:txBody>
      </p:sp>
      <p:graphicFrame>
        <p:nvGraphicFramePr>
          <p:cNvPr id="6" name="Segnaposto contenuto 3">
            <a:extLst>
              <a:ext uri="{FF2B5EF4-FFF2-40B4-BE49-F238E27FC236}">
                <a16:creationId xmlns:a16="http://schemas.microsoft.com/office/drawing/2014/main" id="{52EDC0E6-0F1A-D0AC-FC07-4E5DF8517A6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718389931"/>
              </p:ext>
            </p:extLst>
          </p:nvPr>
        </p:nvGraphicFramePr>
        <p:xfrm>
          <a:off x="594360" y="2959911"/>
          <a:ext cx="8599883" cy="37085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Immagine 6" descr="Immagine che contiene modello, disegno, ricamo, schizzo&#10;&#10;Il contenuto generato dall'IA potrebbe non essere corretto.">
            <a:extLst>
              <a:ext uri="{FF2B5EF4-FFF2-40B4-BE49-F238E27FC236}">
                <a16:creationId xmlns:a16="http://schemas.microsoft.com/office/drawing/2014/main" id="{9311E6C7-7C83-0CEA-50F5-8F51765B4E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3518">
            <a:off x="9439269" y="3677110"/>
            <a:ext cx="2468885" cy="2444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8CA6CF9-EB00-C64E-1BB7-AD1C399F5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1643" y="3499667"/>
            <a:ext cx="4939666" cy="2542810"/>
          </a:xfrm>
        </p:spPr>
        <p:txBody>
          <a:bodyPr anchor="b">
            <a:normAutofit/>
          </a:bodyPr>
          <a:lstStyle/>
          <a:p>
            <a:r>
              <a:rPr lang="en-US" dirty="0" err="1"/>
              <a:t>Risultati</a:t>
            </a:r>
            <a:endParaRPr lang="en-US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BDA32414-1C12-B4EE-BF81-EE87E0465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704" y="3499667"/>
            <a:ext cx="6194704" cy="3208085"/>
          </a:xfrm>
          <a:prstGeom prst="rect">
            <a:avLst/>
          </a:prstGeom>
        </p:spPr>
      </p:pic>
      <p:pic>
        <p:nvPicPr>
          <p:cNvPr id="22" name="Immagine 21" descr="Immagine che contiene testo, schermata, Software multimediale, Software per la grafica&#10;&#10;Il contenuto generato dall'IA potrebbe non essere corretto.">
            <a:extLst>
              <a:ext uri="{FF2B5EF4-FFF2-40B4-BE49-F238E27FC236}">
                <a16:creationId xmlns:a16="http://schemas.microsoft.com/office/drawing/2014/main" id="{EAA9E5D6-45C2-6D8C-369D-3A7F84D198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704" y="312482"/>
            <a:ext cx="6194704" cy="2890456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3ED7A0FA-60C5-8592-933F-3D370BE77C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643" y="6248400"/>
            <a:ext cx="2149422" cy="130969"/>
          </a:xfrm>
          <a:prstGeom prst="rect">
            <a:avLst/>
          </a:prstGeom>
        </p:spPr>
      </p:pic>
      <p:grpSp>
        <p:nvGrpSpPr>
          <p:cNvPr id="31" name="Gruppo 30">
            <a:extLst>
              <a:ext uri="{FF2B5EF4-FFF2-40B4-BE49-F238E27FC236}">
                <a16:creationId xmlns:a16="http://schemas.microsoft.com/office/drawing/2014/main" id="{01EBF18B-F0D5-F6A4-0FD1-72F01C06C5A4}"/>
              </a:ext>
            </a:extLst>
          </p:cNvPr>
          <p:cNvGrpSpPr/>
          <p:nvPr/>
        </p:nvGrpSpPr>
        <p:grpSpPr>
          <a:xfrm>
            <a:off x="6381045" y="6184930"/>
            <a:ext cx="165960" cy="226080"/>
            <a:chOff x="6381045" y="6184930"/>
            <a:chExt cx="16596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9" name="Input penna 28">
                  <a:extLst>
                    <a:ext uri="{FF2B5EF4-FFF2-40B4-BE49-F238E27FC236}">
                      <a16:creationId xmlns:a16="http://schemas.microsoft.com/office/drawing/2014/main" id="{DBF4CA3D-F28D-468B-8306-9B509135FBEC}"/>
                    </a:ext>
                  </a:extLst>
                </p14:cNvPr>
                <p14:cNvContentPartPr/>
                <p14:nvPr/>
              </p14:nvContentPartPr>
              <p14:xfrm>
                <a:off x="6381045" y="6309850"/>
                <a:ext cx="35640" cy="101160"/>
              </p14:xfrm>
            </p:contentPart>
          </mc:Choice>
          <mc:Fallback>
            <p:pic>
              <p:nvPicPr>
                <p:cNvPr id="29" name="Input penna 28">
                  <a:extLst>
                    <a:ext uri="{FF2B5EF4-FFF2-40B4-BE49-F238E27FC236}">
                      <a16:creationId xmlns:a16="http://schemas.microsoft.com/office/drawing/2014/main" id="{DBF4CA3D-F28D-468B-8306-9B509135FB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18405" y="6246850"/>
                  <a:ext cx="161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0" name="Input penna 29">
                  <a:extLst>
                    <a:ext uri="{FF2B5EF4-FFF2-40B4-BE49-F238E27FC236}">
                      <a16:creationId xmlns:a16="http://schemas.microsoft.com/office/drawing/2014/main" id="{B08F825F-C756-AA45-D60A-F045B85DE0A6}"/>
                    </a:ext>
                  </a:extLst>
                </p14:cNvPr>
                <p14:cNvContentPartPr/>
                <p14:nvPr/>
              </p14:nvContentPartPr>
              <p14:xfrm>
                <a:off x="6489045" y="6184930"/>
                <a:ext cx="57960" cy="137880"/>
              </p14:xfrm>
            </p:contentPart>
          </mc:Choice>
          <mc:Fallback>
            <p:pic>
              <p:nvPicPr>
                <p:cNvPr id="30" name="Input penna 29">
                  <a:extLst>
                    <a:ext uri="{FF2B5EF4-FFF2-40B4-BE49-F238E27FC236}">
                      <a16:creationId xmlns:a16="http://schemas.microsoft.com/office/drawing/2014/main" id="{B08F825F-C756-AA45-D60A-F045B85DE0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426405" y="6121930"/>
                  <a:ext cx="18360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3A70F87-33FB-BC88-FA43-B425A9A7DF2B}"/>
              </a:ext>
            </a:extLst>
          </p:cNvPr>
          <p:cNvGrpSpPr/>
          <p:nvPr/>
        </p:nvGrpSpPr>
        <p:grpSpPr>
          <a:xfrm>
            <a:off x="6635614" y="6115249"/>
            <a:ext cx="194760" cy="373680"/>
            <a:chOff x="6635614" y="6115249"/>
            <a:chExt cx="19476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2" name="Input penna 31">
                  <a:extLst>
                    <a:ext uri="{FF2B5EF4-FFF2-40B4-BE49-F238E27FC236}">
                      <a16:creationId xmlns:a16="http://schemas.microsoft.com/office/drawing/2014/main" id="{432D03CE-10EE-9299-F216-8E1B70695225}"/>
                    </a:ext>
                  </a:extLst>
                </p14:cNvPr>
                <p14:cNvContentPartPr/>
                <p14:nvPr/>
              </p14:nvContentPartPr>
              <p14:xfrm>
                <a:off x="6788614" y="6292009"/>
                <a:ext cx="18000" cy="123480"/>
              </p14:xfrm>
            </p:contentPart>
          </mc:Choice>
          <mc:Fallback>
            <p:pic>
              <p:nvPicPr>
                <p:cNvPr id="32" name="Input penna 31">
                  <a:extLst>
                    <a:ext uri="{FF2B5EF4-FFF2-40B4-BE49-F238E27FC236}">
                      <a16:creationId xmlns:a16="http://schemas.microsoft.com/office/drawing/2014/main" id="{432D03CE-10EE-9299-F216-8E1B706952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725974" y="6229009"/>
                  <a:ext cx="1436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3" name="Input penna 32">
                  <a:extLst>
                    <a:ext uri="{FF2B5EF4-FFF2-40B4-BE49-F238E27FC236}">
                      <a16:creationId xmlns:a16="http://schemas.microsoft.com/office/drawing/2014/main" id="{EB8BA516-CC42-C1CF-97DC-43ACB648655F}"/>
                    </a:ext>
                  </a:extLst>
                </p14:cNvPr>
                <p14:cNvContentPartPr/>
                <p14:nvPr/>
              </p14:nvContentPartPr>
              <p14:xfrm>
                <a:off x="6797974" y="6452929"/>
                <a:ext cx="8640" cy="36000"/>
              </p14:xfrm>
            </p:contentPart>
          </mc:Choice>
          <mc:Fallback>
            <p:pic>
              <p:nvPicPr>
                <p:cNvPr id="33" name="Input penna 32">
                  <a:extLst>
                    <a:ext uri="{FF2B5EF4-FFF2-40B4-BE49-F238E27FC236}">
                      <a16:creationId xmlns:a16="http://schemas.microsoft.com/office/drawing/2014/main" id="{EB8BA516-CC42-C1CF-97DC-43ACB648655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34974" y="6390289"/>
                  <a:ext cx="1342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6" name="Input penna 35">
                  <a:extLst>
                    <a:ext uri="{FF2B5EF4-FFF2-40B4-BE49-F238E27FC236}">
                      <a16:creationId xmlns:a16="http://schemas.microsoft.com/office/drawing/2014/main" id="{B79C1F38-3A2B-FD17-20DD-E819FC7C5099}"/>
                    </a:ext>
                  </a:extLst>
                </p14:cNvPr>
                <p14:cNvContentPartPr/>
                <p14:nvPr/>
              </p14:nvContentPartPr>
              <p14:xfrm>
                <a:off x="6830014" y="6115249"/>
                <a:ext cx="360" cy="310680"/>
              </p14:xfrm>
            </p:contentPart>
          </mc:Choice>
          <mc:Fallback>
            <p:pic>
              <p:nvPicPr>
                <p:cNvPr id="36" name="Input penna 35">
                  <a:extLst>
                    <a:ext uri="{FF2B5EF4-FFF2-40B4-BE49-F238E27FC236}">
                      <a16:creationId xmlns:a16="http://schemas.microsoft.com/office/drawing/2014/main" id="{B79C1F38-3A2B-FD17-20DD-E819FC7C509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67014" y="6052609"/>
                  <a:ext cx="1260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7" name="Input penna 36">
                  <a:extLst>
                    <a:ext uri="{FF2B5EF4-FFF2-40B4-BE49-F238E27FC236}">
                      <a16:creationId xmlns:a16="http://schemas.microsoft.com/office/drawing/2014/main" id="{9D8F202A-ECCD-82C4-1DDC-2A21DA24BDAB}"/>
                    </a:ext>
                  </a:extLst>
                </p14:cNvPr>
                <p14:cNvContentPartPr/>
                <p14:nvPr/>
              </p14:nvContentPartPr>
              <p14:xfrm>
                <a:off x="6635614" y="6182569"/>
                <a:ext cx="39240" cy="179640"/>
              </p14:xfrm>
            </p:contentPart>
          </mc:Choice>
          <mc:Fallback>
            <p:pic>
              <p:nvPicPr>
                <p:cNvPr id="37" name="Input penna 36">
                  <a:extLst>
                    <a:ext uri="{FF2B5EF4-FFF2-40B4-BE49-F238E27FC236}">
                      <a16:creationId xmlns:a16="http://schemas.microsoft.com/office/drawing/2014/main" id="{9D8F202A-ECCD-82C4-1DDC-2A21DA24BD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72614" y="6119569"/>
                  <a:ext cx="164880" cy="305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0" name="Immagine 39" descr="Immagine che contiene nero, oscurità, schermata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5749D438-9217-89E5-78BC-CB87685169C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05"/>
          <a:stretch/>
        </p:blipFill>
        <p:spPr>
          <a:xfrm>
            <a:off x="9440712" y="3836559"/>
            <a:ext cx="2390597" cy="2542810"/>
          </a:xfrm>
          <a:prstGeom prst="rect">
            <a:avLst/>
          </a:prstGeom>
        </p:spPr>
      </p:pic>
      <p:pic>
        <p:nvPicPr>
          <p:cNvPr id="42" name="Immagine 41" descr="Immagine che contiene bicicletta, schizzo&#10;&#10;Il contenuto generato dall'IA potrebbe non essere corretto.">
            <a:extLst>
              <a:ext uri="{FF2B5EF4-FFF2-40B4-BE49-F238E27FC236}">
                <a16:creationId xmlns:a16="http://schemas.microsoft.com/office/drawing/2014/main" id="{0F086247-67F0-0F6C-5AD6-D20C793BCDF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1643" y="3737437"/>
            <a:ext cx="2390597" cy="96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Futuri miglioramenti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5523" y="2676525"/>
            <a:ext cx="5746750" cy="3597470"/>
          </a:xfrm>
        </p:spPr>
        <p:txBody>
          <a:bodyPr rtlCol="0">
            <a:normAutofit/>
          </a:bodyPr>
          <a:lstStyle>
            <a:defPPr>
              <a:defRPr lang="it-IT"/>
            </a:defPPr>
          </a:lstStyle>
          <a:p>
            <a:pPr lvl="1" rtl="0"/>
            <a:r>
              <a:rPr lang="it-IT" sz="1800" b="1" dirty="0">
                <a:solidFill>
                  <a:srgbClr val="5D7D40"/>
                </a:solidFill>
                <a:latin typeface="Franklin Gothic Book" panose="020B0503020102020204" pitchFamily="34" charset="0"/>
              </a:rPr>
              <a:t>Implementazione del progetto in tempo reale</a:t>
            </a:r>
          </a:p>
          <a:p>
            <a:pPr lvl="1" rtl="0">
              <a:spcBef>
                <a:spcPts val="1200"/>
              </a:spcBef>
            </a:pPr>
            <a:r>
              <a:rPr lang="it-IT" sz="1800" b="1" dirty="0">
                <a:solidFill>
                  <a:srgbClr val="5D7D40"/>
                </a:solidFill>
                <a:latin typeface="Franklin Gothic Book" panose="020B0503020102020204" pitchFamily="34" charset="0"/>
              </a:rPr>
              <a:t>Gamification come modello di business</a:t>
            </a:r>
          </a:p>
          <a:p>
            <a:pPr lvl="1" rtl="0">
              <a:spcBef>
                <a:spcPts val="1200"/>
              </a:spcBef>
            </a:pPr>
            <a:r>
              <a:rPr lang="it-IT" sz="1800" b="1" dirty="0">
                <a:solidFill>
                  <a:srgbClr val="5D7D40"/>
                </a:solidFill>
                <a:latin typeface="Franklin Gothic Book" panose="020B0503020102020204" pitchFamily="34" charset="0"/>
              </a:rPr>
              <a:t>Profilazione utente e customizzazione dell’applicativo</a:t>
            </a:r>
          </a:p>
          <a:p>
            <a:pPr lvl="1" rtl="0">
              <a:spcBef>
                <a:spcPts val="1200"/>
              </a:spcBef>
            </a:pPr>
            <a:r>
              <a:rPr lang="it-IT" sz="1800" b="1" dirty="0">
                <a:solidFill>
                  <a:srgbClr val="5D7D40"/>
                </a:solidFill>
                <a:latin typeface="Franklin Gothic Book" panose="020B0503020102020204" pitchFamily="34" charset="0"/>
              </a:rPr>
              <a:t>Migliore stima grazie all’allenamento del modello su dati raccolti</a:t>
            </a:r>
          </a:p>
          <a:p>
            <a:pPr lvl="1" rtl="0">
              <a:spcBef>
                <a:spcPts val="1200"/>
              </a:spcBef>
            </a:pPr>
            <a:r>
              <a:rPr lang="it-IT" sz="1800" b="1" dirty="0">
                <a:solidFill>
                  <a:srgbClr val="5D7D40"/>
                </a:solidFill>
                <a:latin typeface="Franklin Gothic Book" panose="020B0503020102020204" pitchFamily="34" charset="0"/>
              </a:rPr>
              <a:t>B2C </a:t>
            </a:r>
          </a:p>
        </p:txBody>
      </p:sp>
      <p:pic>
        <p:nvPicPr>
          <p:cNvPr id="10" name="Immagine 9" descr="Immagine che contiene testo, Carattere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8255F654-8A61-26D9-9AE7-BD4F0419C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359528">
            <a:off x="6767402" y="4648814"/>
            <a:ext cx="5027723" cy="1756352"/>
          </a:xfrm>
          <a:prstGeom prst="rect">
            <a:avLst/>
          </a:prstGeom>
        </p:spPr>
      </p:pic>
      <p:pic>
        <p:nvPicPr>
          <p:cNvPr id="12" name="Immagine 11" descr="Immagine che contiene ruota, trasporto, Veicolo terrestre, pneumatico&#10;&#10;Il contenuto generato dall'IA potrebbe non essere corretto.">
            <a:extLst>
              <a:ext uri="{FF2B5EF4-FFF2-40B4-BE49-F238E27FC236}">
                <a16:creationId xmlns:a16="http://schemas.microsoft.com/office/drawing/2014/main" id="{EEDEBF9D-EFC1-072D-01F5-5E0CC0326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15636">
            <a:off x="5230174" y="4192496"/>
            <a:ext cx="2438095" cy="1295238"/>
          </a:xfrm>
          <a:prstGeom prst="rect">
            <a:avLst/>
          </a:prstGeom>
        </p:spPr>
      </p:pic>
      <p:pic>
        <p:nvPicPr>
          <p:cNvPr id="14" name="Immagine 13" descr="Immagine che contiene ruota, trasporto, bici, Ruota di bicicletta&#10;&#10;Il contenuto generato dall'IA potrebbe non essere corretto.">
            <a:extLst>
              <a:ext uri="{FF2B5EF4-FFF2-40B4-BE49-F238E27FC236}">
                <a16:creationId xmlns:a16="http://schemas.microsoft.com/office/drawing/2014/main" id="{8E56D6D0-B050-5D3C-4D3B-686C44B4E2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180" y="2733178"/>
            <a:ext cx="1381125" cy="1838325"/>
          </a:xfrm>
          <a:prstGeom prst="rect">
            <a:avLst/>
          </a:prstGeom>
        </p:spPr>
      </p:pic>
      <p:pic>
        <p:nvPicPr>
          <p:cNvPr id="16" name="Immagine 15" descr="Immagine che contiene Ruota di bicicletta, ruota, bici, Telaio della bicicletta&#10;&#10;Il contenuto generato dall'IA potrebbe non essere corretto.">
            <a:extLst>
              <a:ext uri="{FF2B5EF4-FFF2-40B4-BE49-F238E27FC236}">
                <a16:creationId xmlns:a16="http://schemas.microsoft.com/office/drawing/2014/main" id="{6C85123E-AD86-6EEF-E4B0-77D63A6834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530" y="4722127"/>
            <a:ext cx="139065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 rtlCol="0"/>
          <a:lstStyle>
            <a:defPPr>
              <a:defRPr lang="it-IT"/>
            </a:defPPr>
          </a:lstStyle>
          <a:p>
            <a:pPr rtl="0"/>
            <a:r>
              <a:rPr lang="it-IT" dirty="0"/>
              <a:t>Grazie dell’attenzione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4_TF78853419_Win32" id="{3ED6E92A-08EA-49C8-8CDD-3C359BC72750}" vid="{18A8D122-DF74-4B77-85CD-55A103CD41C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wiss">
    <a:dk1>
      <a:srgbClr val="000000"/>
    </a:dk1>
    <a:lt1>
      <a:srgbClr val="FFFFFF"/>
    </a:lt1>
    <a:dk2>
      <a:srgbClr val="E4E4E4"/>
    </a:dk2>
    <a:lt2>
      <a:srgbClr val="7CA655"/>
    </a:lt2>
    <a:accent1>
      <a:srgbClr val="A9D4DB"/>
    </a:accent1>
    <a:accent2>
      <a:srgbClr val="FBE284"/>
    </a:accent2>
    <a:accent3>
      <a:srgbClr val="4495A2"/>
    </a:accent3>
    <a:accent4>
      <a:srgbClr val="AA5881"/>
    </a:accent4>
    <a:accent5>
      <a:srgbClr val="E06742"/>
    </a:accent5>
    <a:accent6>
      <a:srgbClr val="F9D448"/>
    </a:accent6>
    <a:hlink>
      <a:srgbClr val="4495A2"/>
    </a:hlink>
    <a:folHlink>
      <a:srgbClr val="AA588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137</Words>
  <Application>Microsoft Office PowerPoint</Application>
  <PresentationFormat>Widescreen</PresentationFormat>
  <Paragraphs>31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-apple-system</vt:lpstr>
      <vt:lpstr>Arial</vt:lpstr>
      <vt:lpstr>Calibri</vt:lpstr>
      <vt:lpstr>Franklin Gothic Book</vt:lpstr>
      <vt:lpstr>Franklin Gothic Demi</vt:lpstr>
      <vt:lpstr>Personalizzata</vt:lpstr>
      <vt:lpstr>E-Bike BMS</vt:lpstr>
      <vt:lpstr>Problemi identificati</vt:lpstr>
      <vt:lpstr>Obbiettivi </vt:lpstr>
      <vt:lpstr>Soluzione</vt:lpstr>
      <vt:lpstr>Implementazione</vt:lpstr>
      <vt:lpstr>Risultati</vt:lpstr>
      <vt:lpstr>Futuri miglioramenti</vt:lpstr>
      <vt:lpstr>Grazie dell’attenzione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MAGNABOSCO MANUEL [SM3201604]</dc:creator>
  <cp:lastModifiedBy>MAGNABOSCO MANUEL [SM3201604]</cp:lastModifiedBy>
  <cp:revision>2</cp:revision>
  <dcterms:created xsi:type="dcterms:W3CDTF">2025-05-03T12:53:42Z</dcterms:created>
  <dcterms:modified xsi:type="dcterms:W3CDTF">2025-05-03T18:57:36Z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